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58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4.jpeg" /><Relationship Id="rId4" Type="http://schemas.openxmlformats.org/officeDocument/2006/relationships/image" Target="../media/image3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7.jpeg" /><Relationship Id="rId5" Type="http://schemas.openxmlformats.org/officeDocument/2006/relationships/image" Target="../media/image6.jpeg" /><Relationship Id="rId4" Type="http://schemas.openxmlformats.org/officeDocument/2006/relationships/image" Target="../media/image5.jpe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9.png" /><Relationship Id="rId4" Type="http://schemas.openxmlformats.org/officeDocument/2006/relationships/image" Target="../media/image8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1.jpeg" /><Relationship Id="rId4" Type="http://schemas.openxmlformats.org/officeDocument/2006/relationships/image" Target="../media/image10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4.png" /><Relationship Id="rId5" Type="http://schemas.openxmlformats.org/officeDocument/2006/relationships/image" Target="../media/image13.jpeg" /><Relationship Id="rId4" Type="http://schemas.openxmlformats.org/officeDocument/2006/relationships/image" Target="../media/image12.png" 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402.19473?utm_source=chatgpt.com" TargetMode="External" /><Relationship Id="rId3" Type="http://schemas.openxmlformats.org/officeDocument/2006/relationships/image" Target="../media/image2.png" /><Relationship Id="rId7" Type="http://schemas.openxmlformats.org/officeDocument/2006/relationships/hyperlink" Target="https://arxiv.org/abs/2312.10997?utm_source=chatgpt.com" TargetMode="External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Relationship Id="rId6" Type="http://schemas.openxmlformats.org/officeDocument/2006/relationships/hyperlink" Target="https://www.bis.gov.in/compendium-of-indian-standards/?lang=en&amp;utm_source=chatgpt.com" TargetMode="External" /><Relationship Id="rId5" Type="http://schemas.openxmlformats.org/officeDocument/2006/relationships/hyperlink" Target="https://www.bis.gov.in/know-your-standard/?lang=en&amp;utm_source=chatgpt.com" TargetMode="External" /><Relationship Id="rId10" Type="http://schemas.openxmlformats.org/officeDocument/2006/relationships/image" Target="../media/image15.jpeg" /><Relationship Id="rId4" Type="http://schemas.openxmlformats.org/officeDocument/2006/relationships/hyperlink" Target="https://standards.bis.gov.in/?utm_source=chatgpt.com" TargetMode="External" /><Relationship Id="rId9" Type="http://schemas.openxmlformats.org/officeDocument/2006/relationships/hyperlink" Target="https://www.bis.gov.in/?utm_source=chatgpt.com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9558" y="1828948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5958" y="-450083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7220" y="56974"/>
            <a:ext cx="1682716" cy="7945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2F7B63A-D73E-31F7-0D26-DE0BAF0EDB18}"/>
              </a:ext>
            </a:extLst>
          </p:cNvPr>
          <p:cNvSpPr txBox="1"/>
          <p:nvPr/>
        </p:nvSpPr>
        <p:spPr>
          <a:xfrm>
            <a:off x="773222" y="1560027"/>
            <a:ext cx="4879169" cy="3737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/>
              <a:t>•</a:t>
            </a:r>
            <a:r>
              <a:rPr lang="en-IN" sz="2000" b="1" dirty="0"/>
              <a:t>Problem Statement ID –</a:t>
            </a:r>
            <a:r>
              <a:rPr lang="en-IN" sz="2000" dirty="0"/>
              <a:t> SIH26108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•</a:t>
            </a:r>
            <a:r>
              <a:rPr lang="en-IN" sz="2000" b="1" dirty="0"/>
              <a:t>Problem Statement Title -</a:t>
            </a:r>
            <a:r>
              <a:rPr lang="en-IN" sz="2000" dirty="0"/>
              <a:t> AI-Powered Recommendation Engine for Applicable Indian Standards.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•</a:t>
            </a:r>
            <a:r>
              <a:rPr lang="en-IN" sz="2000" b="1" dirty="0"/>
              <a:t>Theme -</a:t>
            </a:r>
            <a:r>
              <a:rPr lang="en-IN" sz="2000" dirty="0"/>
              <a:t> Smart Automation.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•</a:t>
            </a:r>
            <a:r>
              <a:rPr lang="en-IN" sz="2000" b="1" dirty="0"/>
              <a:t>Problem Statement Category </a:t>
            </a:r>
            <a:r>
              <a:rPr lang="en-IN" sz="2000" dirty="0"/>
              <a:t>– Software.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•</a:t>
            </a:r>
            <a:r>
              <a:rPr lang="en-IN" sz="2000" b="1" dirty="0"/>
              <a:t>Team ID -</a:t>
            </a:r>
            <a:r>
              <a:rPr lang="en-IN" sz="2000" dirty="0"/>
              <a:t>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•</a:t>
            </a:r>
            <a:r>
              <a:rPr lang="en-IN" sz="2000" b="1" dirty="0"/>
              <a:t>Team Name - </a:t>
            </a:r>
            <a:r>
              <a:rPr lang="en-IN" sz="2000" dirty="0"/>
              <a:t>Eva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06277A61-6C1C-BD64-8C4B-A5BCBB32BA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Eva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906CD3-2C34-793A-9E8D-3B57D8C97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" name="Footer Placeholder 6">
            <a:extLst>
              <a:ext uri="{FF2B5EF4-FFF2-40B4-BE49-F238E27FC236}">
                <a16:creationId xmlns:a16="http://schemas.microsoft.com/office/drawing/2014/main" id="{54020378-5A1E-AE04-DFA0-B7C67E252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93999" y="6423818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IN" dirty="0">
                <a:solidFill>
                  <a:schemeClr val="bg1"/>
                </a:solidFill>
              </a:rPr>
              <a:t>SIH26108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 descr="Download Free Idea Icons in PNG &amp; SVG | Magnific (formerly Freepik)">
            <a:extLst>
              <a:ext uri="{FF2B5EF4-FFF2-40B4-BE49-F238E27FC236}">
                <a16:creationId xmlns:a16="http://schemas.microsoft.com/office/drawing/2014/main" id="{FC5936DE-045D-7F15-BF47-50A409DCAE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8108" y="1964167"/>
            <a:ext cx="647737" cy="647737"/>
          </a:xfrm>
          <a:prstGeom prst="rect">
            <a:avLst/>
          </a:prstGeom>
        </p:spPr>
      </p:pic>
      <p:pic>
        <p:nvPicPr>
          <p:cNvPr id="10" name="Picture 9" descr="Setting Icon Vector. Cog Settings Icon Symbol Stock Vector Image &amp; Art -  Alamy">
            <a:extLst>
              <a:ext uri="{FF2B5EF4-FFF2-40B4-BE49-F238E27FC236}">
                <a16:creationId xmlns:a16="http://schemas.microsoft.com/office/drawing/2014/main" id="{8BCE7D34-D97D-ABAD-814B-D5ED2421048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1773"/>
          <a:stretch>
            <a:fillRect/>
          </a:stretch>
        </p:blipFill>
        <p:spPr>
          <a:xfrm>
            <a:off x="3954240" y="4958813"/>
            <a:ext cx="932346" cy="8795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9346B31D-E351-816F-4B37-56095A1E84B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Eva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8EFC853-E69F-4D65-06E6-F4FC60EE96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7220" y="56974"/>
            <a:ext cx="1682716" cy="794547"/>
          </a:xfrm>
          <a:prstGeom prst="rect">
            <a:avLst/>
          </a:prstGeom>
        </p:spPr>
      </p:pic>
      <p:sp>
        <p:nvSpPr>
          <p:cNvPr id="15" name="Footer Placeholder 6">
            <a:extLst>
              <a:ext uri="{FF2B5EF4-FFF2-40B4-BE49-F238E27FC236}">
                <a16:creationId xmlns:a16="http://schemas.microsoft.com/office/drawing/2014/main" id="{D8D746AB-9EC2-1177-DE60-622096EB673B}"/>
              </a:ext>
            </a:extLst>
          </p:cNvPr>
          <p:cNvSpPr txBox="1">
            <a:spLocks/>
          </p:cNvSpPr>
          <p:nvPr/>
        </p:nvSpPr>
        <p:spPr>
          <a:xfrm>
            <a:off x="4800600" y="6508753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IN">
                <a:solidFill>
                  <a:schemeClr val="bg1"/>
                </a:solidFill>
              </a:rPr>
              <a:t>SIH26108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9946D0-4641-0AD3-78B6-9DE97A7DD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0" name="Footer Placeholder 6">
            <a:extLst>
              <a:ext uri="{FF2B5EF4-FFF2-40B4-BE49-F238E27FC236}">
                <a16:creationId xmlns:a16="http://schemas.microsoft.com/office/drawing/2014/main" id="{DD0784E7-056C-744A-1CD6-A559718B779A}"/>
              </a:ext>
            </a:extLst>
          </p:cNvPr>
          <p:cNvSpPr txBox="1">
            <a:spLocks/>
          </p:cNvSpPr>
          <p:nvPr/>
        </p:nvSpPr>
        <p:spPr>
          <a:xfrm>
            <a:off x="4493999" y="6423818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IN" dirty="0">
                <a:solidFill>
                  <a:schemeClr val="bg1"/>
                </a:solidFill>
              </a:rPr>
              <a:t>SIH26108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EEE908-9DC0-8281-AD1E-FC9D8C9006B0}"/>
              </a:ext>
            </a:extLst>
          </p:cNvPr>
          <p:cNvSpPr txBox="1"/>
          <p:nvPr/>
        </p:nvSpPr>
        <p:spPr>
          <a:xfrm>
            <a:off x="570419" y="1905506"/>
            <a:ext cx="361697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Proposed Solution :</a:t>
            </a:r>
            <a:br>
              <a:rPr lang="en-IN" sz="2400" b="1" dirty="0"/>
            </a:br>
            <a:br>
              <a:rPr lang="en-IN" sz="2400" dirty="0"/>
            </a:br>
            <a:r>
              <a:rPr lang="en-IN" sz="2400" b="1" dirty="0"/>
              <a:t>AI-powered system </a:t>
            </a:r>
            <a:r>
              <a:rPr lang="en-IN" sz="2400" dirty="0"/>
              <a:t>that analyses a product description and recommends the most relevant Indian Standards automatically.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37D7EA-984B-0191-61F2-F928E5C64F74}"/>
              </a:ext>
            </a:extLst>
          </p:cNvPr>
          <p:cNvSpPr txBox="1"/>
          <p:nvPr/>
        </p:nvSpPr>
        <p:spPr>
          <a:xfrm>
            <a:off x="4210409" y="1905506"/>
            <a:ext cx="377117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Addresses The Problem :</a:t>
            </a:r>
            <a:br>
              <a:rPr lang="en-IN" sz="2400" b="1" dirty="0"/>
            </a:br>
            <a:br>
              <a:rPr lang="en-IN" sz="2400" dirty="0"/>
            </a:br>
            <a:r>
              <a:rPr lang="en-IN" sz="2400" dirty="0"/>
              <a:t>Reduces the time and effort required to </a:t>
            </a:r>
            <a:r>
              <a:rPr lang="en-IN" sz="2400" b="1" dirty="0"/>
              <a:t>manually search through thousands of Indian Standards</a:t>
            </a:r>
            <a:r>
              <a:rPr lang="en-IN" sz="2400" dirty="0"/>
              <a:t> and identify applicable ones.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711DCE-2ED8-26B1-3DA6-A361B12BAB50}"/>
              </a:ext>
            </a:extLst>
          </p:cNvPr>
          <p:cNvSpPr txBox="1"/>
          <p:nvPr/>
        </p:nvSpPr>
        <p:spPr>
          <a:xfrm>
            <a:off x="8043781" y="1905506"/>
            <a:ext cx="35778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Innovation :</a:t>
            </a:r>
            <a:br>
              <a:rPr lang="en-IN" sz="2400" b="1" dirty="0"/>
            </a:br>
            <a:br>
              <a:rPr lang="en-IN" sz="2400" dirty="0"/>
            </a:br>
            <a:r>
              <a:rPr lang="en-IN" sz="2400" dirty="0"/>
              <a:t>Uses AI and semantic understanding to provide </a:t>
            </a:r>
            <a:r>
              <a:rPr lang="en-IN" sz="2400" b="1" dirty="0"/>
              <a:t>context-based recommendations</a:t>
            </a:r>
            <a:r>
              <a:rPr lang="en-IN" sz="2400" dirty="0"/>
              <a:t>, even when the user doesn't know the exact standard number.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F7B3A1C-9F42-8DA0-7633-1A67E0D6E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8" y="8441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pic>
        <p:nvPicPr>
          <p:cNvPr id="8" name="Picture 7" descr="Blue Artificial Intelligence generated symbol. Artificial intelligence icon.  68093998 Vector Art at Vecteezy">
            <a:extLst>
              <a:ext uri="{FF2B5EF4-FFF2-40B4-BE49-F238E27FC236}">
                <a16:creationId xmlns:a16="http://schemas.microsoft.com/office/drawing/2014/main" id="{6B31254F-8226-5A0B-2079-1FFC4A1593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8908" y="217575"/>
            <a:ext cx="1635895" cy="1635895"/>
          </a:xfrm>
          <a:prstGeom prst="rect">
            <a:avLst/>
          </a:prstGeom>
        </p:spPr>
      </p:pic>
      <p:pic>
        <p:nvPicPr>
          <p:cNvPr id="11" name="Picture 10" descr="111,400+ Reading Icon Illustrations - iStock">
            <a:extLst>
              <a:ext uri="{FF2B5EF4-FFF2-40B4-BE49-F238E27FC236}">
                <a16:creationId xmlns:a16="http://schemas.microsoft.com/office/drawing/2014/main" id="{D385DC68-7439-6E07-F9D8-85F8057D13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3428" y="4725493"/>
            <a:ext cx="1525197" cy="1525197"/>
          </a:xfrm>
          <a:prstGeom prst="rect">
            <a:avLst/>
          </a:prstGeom>
        </p:spPr>
      </p:pic>
      <p:pic>
        <p:nvPicPr>
          <p:cNvPr id="12" name="Picture 11" descr="semantic web natural language processing nlp line icon illustration  54191279 Vector Art at Vecteezy">
            <a:extLst>
              <a:ext uri="{FF2B5EF4-FFF2-40B4-BE49-F238E27FC236}">
                <a16:creationId xmlns:a16="http://schemas.microsoft.com/office/drawing/2014/main" id="{119EFB4D-D6B7-2EA0-15B3-15A24AC796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2945" y="99201"/>
            <a:ext cx="1729310" cy="17293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135504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Eva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1191BD-666D-05AD-834B-D2471F6AAC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7220" y="56974"/>
            <a:ext cx="1682716" cy="794547"/>
          </a:xfrm>
          <a:prstGeom prst="rect">
            <a:avLst/>
          </a:prstGeom>
        </p:spPr>
      </p:pic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8193C764-D08F-AB53-9DB5-99936717C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93999" y="6423818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IN" dirty="0">
                <a:solidFill>
                  <a:schemeClr val="bg1"/>
                </a:solidFill>
              </a:rPr>
              <a:t>SIH26108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0709A5-ECFE-DA50-1250-33C0A3504669}"/>
              </a:ext>
            </a:extLst>
          </p:cNvPr>
          <p:cNvSpPr txBox="1"/>
          <p:nvPr/>
        </p:nvSpPr>
        <p:spPr>
          <a:xfrm>
            <a:off x="530941" y="1455687"/>
            <a:ext cx="609447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b="1" dirty="0">
                <a:latin typeface="+mn-lt"/>
              </a:rPr>
              <a:t>Technologies :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>
                <a:latin typeface="+mn-lt"/>
              </a:rPr>
              <a:t>Python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>
                <a:latin typeface="+mn-lt"/>
              </a:rPr>
              <a:t>React.js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>
                <a:latin typeface="+mn-lt"/>
              </a:rPr>
              <a:t>Fast-API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 err="1">
                <a:latin typeface="+mn-lt"/>
              </a:rPr>
              <a:t>Olama</a:t>
            </a:r>
            <a:r>
              <a:rPr lang="en-IN" sz="2400" dirty="0">
                <a:latin typeface="+mn-lt"/>
              </a:rPr>
              <a:t> 3.2 3B LLM</a:t>
            </a:r>
            <a:endParaRPr lang="en-IN" sz="2400" b="1" dirty="0">
              <a:latin typeface="+mn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400" dirty="0">
                <a:latin typeface="+mn-lt"/>
              </a:rPr>
              <a:t>Local RAG Pipeline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>
                <a:latin typeface="+mn-lt"/>
              </a:rPr>
              <a:t>Vector Database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>
                <a:latin typeface="+mn-lt"/>
              </a:rPr>
              <a:t>Embeddings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>
                <a:latin typeface="+mn-lt"/>
              </a:rPr>
              <a:t>Multi-Language NLP</a:t>
            </a:r>
          </a:p>
          <a:p>
            <a:pPr marL="342900" indent="-342900">
              <a:buFont typeface="+mj-lt"/>
              <a:buAutoNum type="arabicPeriod"/>
            </a:pPr>
            <a:endParaRPr lang="en-IN" sz="2400" dirty="0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A0F38F-5DB3-A729-1A0D-E1FF01635FF7}"/>
              </a:ext>
            </a:extLst>
          </p:cNvPr>
          <p:cNvSpPr txBox="1"/>
          <p:nvPr/>
        </p:nvSpPr>
        <p:spPr>
          <a:xfrm>
            <a:off x="4065524" y="1466169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b="1" dirty="0"/>
              <a:t>Methodology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CAD47FA-C986-135B-36F0-F868EFF9E0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532" b="13522"/>
          <a:stretch>
            <a:fillRect/>
          </a:stretch>
        </p:blipFill>
        <p:spPr>
          <a:xfrm>
            <a:off x="4065524" y="1828335"/>
            <a:ext cx="7523738" cy="3307603"/>
          </a:xfrm>
          <a:prstGeom prst="rect">
            <a:avLst/>
          </a:prstGeom>
        </p:spPr>
      </p:pic>
      <p:pic>
        <p:nvPicPr>
          <p:cNvPr id="18" name="Picture 17" descr="LLM RAG Technology Overview">
            <a:extLst>
              <a:ext uri="{FF2B5EF4-FFF2-40B4-BE49-F238E27FC236}">
                <a16:creationId xmlns:a16="http://schemas.microsoft.com/office/drawing/2014/main" id="{6BAE6BB7-8D4F-9025-7B9F-01A7610254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061" y="4878740"/>
            <a:ext cx="2397509" cy="13391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16477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1739727F-0B43-F66A-4249-7E99859DB19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Eva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579257-FF38-74BD-DC75-1CF8D33A14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7220" y="56974"/>
            <a:ext cx="1682716" cy="794547"/>
          </a:xfrm>
          <a:prstGeom prst="rect">
            <a:avLst/>
          </a:prstGeom>
        </p:spPr>
      </p:pic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F61757E2-F469-6250-8FE5-A98D7BBDF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93999" y="6423818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IN" dirty="0">
                <a:solidFill>
                  <a:schemeClr val="bg1"/>
                </a:solidFill>
              </a:rPr>
              <a:t>SIH26108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EA7F91-557A-067C-BB01-995E9F2ED646}"/>
              </a:ext>
            </a:extLst>
          </p:cNvPr>
          <p:cNvSpPr txBox="1"/>
          <p:nvPr/>
        </p:nvSpPr>
        <p:spPr>
          <a:xfrm>
            <a:off x="609600" y="1395246"/>
            <a:ext cx="109728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b="1" dirty="0"/>
              <a:t>Analysis Of The Feasibility Of The Idea :</a:t>
            </a:r>
          </a:p>
          <a:p>
            <a:r>
              <a:rPr lang="en-IN" sz="2400" dirty="0"/>
              <a:t>Uses scalable AI and web technologies with readily available standards data, making the solution technically and economically feasible.</a:t>
            </a:r>
          </a:p>
          <a:p>
            <a:endParaRPr lang="en-IN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b="1" dirty="0"/>
              <a:t>Potential Challenges And Risks :</a:t>
            </a:r>
          </a:p>
          <a:p>
            <a:r>
              <a:rPr lang="en-IN" sz="2400" dirty="0"/>
              <a:t>Data quality, incomplete standards information, AI-generated inaccuracies, and keeping standards up to date.</a:t>
            </a:r>
          </a:p>
          <a:p>
            <a:endParaRPr lang="en-IN" sz="2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b="1" dirty="0"/>
              <a:t>Strategies For Overcoming These Challenges :</a:t>
            </a:r>
          </a:p>
          <a:p>
            <a:r>
              <a:rPr lang="en-IN" sz="2400" dirty="0"/>
              <a:t>Use verified BIS sources, regular data updates, RAG-based validation, relevance scoring, and human verification for critical recommendations.</a:t>
            </a:r>
          </a:p>
        </p:txBody>
      </p:sp>
      <p:pic>
        <p:nvPicPr>
          <p:cNvPr id="4" name="Picture 3" descr="Database Icons - Free SVG &amp; PNG Database Images - Noun Project">
            <a:extLst>
              <a:ext uri="{FF2B5EF4-FFF2-40B4-BE49-F238E27FC236}">
                <a16:creationId xmlns:a16="http://schemas.microsoft.com/office/drawing/2014/main" id="{23D248A6-E65F-DC08-BE09-FAB51787A2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8811" y="2355755"/>
            <a:ext cx="734917" cy="734917"/>
          </a:xfrm>
          <a:prstGeom prst="rect">
            <a:avLst/>
          </a:prstGeom>
        </p:spPr>
      </p:pic>
      <p:pic>
        <p:nvPicPr>
          <p:cNvPr id="7" name="Picture 6" descr="Best quality icon stock vector. Illustration of feedback - 376868718">
            <a:extLst>
              <a:ext uri="{FF2B5EF4-FFF2-40B4-BE49-F238E27FC236}">
                <a16:creationId xmlns:a16="http://schemas.microsoft.com/office/drawing/2014/main" id="{81AFD8E1-88FE-36F1-6777-24916126D7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40971" y="4646750"/>
            <a:ext cx="1251763" cy="1251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116329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BFB5E92D-3637-C333-A9D2-9C2DC11B35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Eva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06F031-2FF5-F1D7-7418-9F82B7A08A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7220" y="56974"/>
            <a:ext cx="1682716" cy="794547"/>
          </a:xfrm>
          <a:prstGeom prst="rect">
            <a:avLst/>
          </a:prstGeom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5F75E4E2-762E-C9B2-9CE8-90E13D054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0520" y="6423818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IN" dirty="0">
                <a:solidFill>
                  <a:schemeClr val="bg1"/>
                </a:solidFill>
              </a:rPr>
              <a:t>SIH26108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C29769-4093-5AE2-9806-E48D1FEB6A59}"/>
              </a:ext>
            </a:extLst>
          </p:cNvPr>
          <p:cNvSpPr txBox="1"/>
          <p:nvPr/>
        </p:nvSpPr>
        <p:spPr>
          <a:xfrm>
            <a:off x="609600" y="1606286"/>
            <a:ext cx="109728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Potential impact on the target audience :</a:t>
            </a:r>
            <a:br>
              <a:rPr lang="en-IN" sz="2400" dirty="0"/>
            </a:br>
            <a:r>
              <a:rPr lang="en-IN" sz="2400" dirty="0"/>
              <a:t>Enables industries, manufacturers, engineers and researchers to quickly identify applicable Indian Standards, reducing manual effort and search time.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Benefits of the solution :</a:t>
            </a:r>
            <a:br>
              <a:rPr lang="en-IN" sz="2400" dirty="0"/>
            </a:br>
            <a:r>
              <a:rPr lang="en-IN" sz="2400" dirty="0"/>
              <a:t>Improves compliance, reduces costs and errors, supports faster product development, and promotes standardized and sustainable practices.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58B7F4-1445-31AD-51F8-5D6E0CDAF0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220" y="747184"/>
            <a:ext cx="1143000" cy="1143000"/>
          </a:xfrm>
          <a:prstGeom prst="rect">
            <a:avLst/>
          </a:prstGeom>
        </p:spPr>
      </p:pic>
      <p:pic>
        <p:nvPicPr>
          <p:cNvPr id="11" name="Picture 10" descr="Fast symbol Images - Free Download on Magnific (formerly Freepik)">
            <a:extLst>
              <a:ext uri="{FF2B5EF4-FFF2-40B4-BE49-F238E27FC236}">
                <a16:creationId xmlns:a16="http://schemas.microsoft.com/office/drawing/2014/main" id="{18E8401B-E7CD-AE57-141E-81C219268E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9063" y="4459734"/>
            <a:ext cx="1553337" cy="1553337"/>
          </a:xfrm>
          <a:prstGeom prst="rect">
            <a:avLst/>
          </a:prstGeom>
        </p:spPr>
      </p:pic>
      <p:pic>
        <p:nvPicPr>
          <p:cNvPr id="12" name="Picture 11" descr="Sustainability - Free business and finance icons">
            <a:extLst>
              <a:ext uri="{FF2B5EF4-FFF2-40B4-BE49-F238E27FC236}">
                <a16:creationId xmlns:a16="http://schemas.microsoft.com/office/drawing/2014/main" id="{AF9701AA-AB1E-E480-3C6A-B6D34AC612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3608" y="2890214"/>
            <a:ext cx="1425856" cy="142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8441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539FEB78-B563-4266-B592-7A5E86B0BD2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Eva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27A7BE-C0B7-D1FE-AD99-4B093FFD5B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7220" y="56974"/>
            <a:ext cx="1682716" cy="794547"/>
          </a:xfrm>
          <a:prstGeom prst="rect">
            <a:avLst/>
          </a:prstGeom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0983765C-08E7-513D-B9EA-828B51C16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93999" y="6423818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IN" dirty="0">
                <a:solidFill>
                  <a:schemeClr val="bg1"/>
                </a:solidFill>
              </a:rPr>
              <a:t>SIH26108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BD6528-FA3E-76DC-31C5-A3AB6D0CD9BD}"/>
              </a:ext>
            </a:extLst>
          </p:cNvPr>
          <p:cNvSpPr txBox="1"/>
          <p:nvPr/>
        </p:nvSpPr>
        <p:spPr>
          <a:xfrm>
            <a:off x="955701" y="2121407"/>
            <a:ext cx="609447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Bureau of Indian Standards</a:t>
            </a:r>
            <a:r>
              <a:rPr lang="en-IN" dirty="0"/>
              <a:t> — </a:t>
            </a:r>
            <a:br>
              <a:rPr lang="en-IN" dirty="0"/>
            </a:br>
            <a:r>
              <a:rPr lang="en-IN" dirty="0"/>
              <a:t>Official Standards Portal</a:t>
            </a:r>
            <a:br>
              <a:rPr lang="en-IN" dirty="0"/>
            </a:br>
            <a:r>
              <a:rPr lang="en-IN" dirty="0">
                <a:hlinkClick r:id="rId4"/>
              </a:rPr>
              <a:t>BIS Standards Portal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Know Your Standard</a:t>
            </a:r>
            <a:r>
              <a:rPr lang="en-IN" dirty="0"/>
              <a:t> — </a:t>
            </a:r>
            <a:br>
              <a:rPr lang="en-IN" dirty="0"/>
            </a:br>
            <a:r>
              <a:rPr lang="en-IN" dirty="0"/>
              <a:t>Search standards by IS number/keyword</a:t>
            </a:r>
            <a:br>
              <a:rPr lang="en-IN" dirty="0"/>
            </a:br>
            <a:r>
              <a:rPr lang="en-IN" dirty="0">
                <a:hlinkClick r:id="rId5"/>
              </a:rPr>
              <a:t>BIS Know Your Standard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BIS – </a:t>
            </a:r>
            <a:br>
              <a:rPr lang="en-IN" b="1" dirty="0"/>
            </a:br>
            <a:r>
              <a:rPr lang="en-IN" dirty="0"/>
              <a:t>Compendium of Indian Standards</a:t>
            </a:r>
            <a:br>
              <a:rPr lang="en-IN" dirty="0"/>
            </a:br>
            <a:r>
              <a:rPr lang="en-IN" dirty="0">
                <a:hlinkClick r:id="rId6"/>
              </a:rPr>
              <a:t>BIS Compendium of Indian Standards</a:t>
            </a:r>
            <a:r>
              <a:rPr lang="en-IN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F83CBD-7EC6-2832-252E-558B2BA60B92}"/>
              </a:ext>
            </a:extLst>
          </p:cNvPr>
          <p:cNvSpPr txBox="1"/>
          <p:nvPr/>
        </p:nvSpPr>
        <p:spPr>
          <a:xfrm>
            <a:off x="5539576" y="2148541"/>
            <a:ext cx="609447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RAG for Large Language Models – </a:t>
            </a:r>
            <a:br>
              <a:rPr lang="en-IN" b="1" dirty="0"/>
            </a:br>
            <a:r>
              <a:rPr lang="en-IN" dirty="0"/>
              <a:t>Research Survey</a:t>
            </a:r>
            <a:br>
              <a:rPr lang="en-IN" dirty="0"/>
            </a:br>
            <a:r>
              <a:rPr lang="en-IN" dirty="0">
                <a:hlinkClick r:id="rId7"/>
              </a:rPr>
              <a:t>RAG Research Paper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Retrieval-Augmented Generation – </a:t>
            </a:r>
            <a:br>
              <a:rPr lang="en-IN" b="1" dirty="0"/>
            </a:br>
            <a:r>
              <a:rPr lang="en-IN" dirty="0"/>
              <a:t>Research Survey</a:t>
            </a:r>
            <a:br>
              <a:rPr lang="en-IN" dirty="0"/>
            </a:br>
            <a:r>
              <a:rPr lang="en-IN" dirty="0">
                <a:hlinkClick r:id="rId8"/>
              </a:rPr>
              <a:t>RAG Survey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Indian Standards –</a:t>
            </a:r>
            <a:br>
              <a:rPr lang="en-IN" b="1" dirty="0"/>
            </a:br>
            <a:r>
              <a:rPr lang="en-IN" dirty="0"/>
              <a:t>Standardization Research Papers</a:t>
            </a:r>
            <a:br>
              <a:rPr lang="en-IN" dirty="0"/>
            </a:br>
            <a:r>
              <a:rPr lang="en-IN" dirty="0">
                <a:hlinkClick r:id="rId9"/>
              </a:rPr>
              <a:t>Bureau of Indian Standards</a:t>
            </a:r>
            <a:r>
              <a:rPr lang="en-IN" dirty="0"/>
              <a:t> </a:t>
            </a:r>
          </a:p>
        </p:txBody>
      </p:sp>
      <p:pic>
        <p:nvPicPr>
          <p:cNvPr id="12" name="Picture 11" descr="BUREAU of INDIAN STANDARDS (BIS) -12 – DESIGN ACADEMICS">
            <a:extLst>
              <a:ext uri="{FF2B5EF4-FFF2-40B4-BE49-F238E27FC236}">
                <a16:creationId xmlns:a16="http://schemas.microsoft.com/office/drawing/2014/main" id="{D3E775D8-020D-0BF9-0237-F4E8A362239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49381" b="42605"/>
          <a:stretch>
            <a:fillRect/>
          </a:stretch>
        </p:blipFill>
        <p:spPr>
          <a:xfrm>
            <a:off x="10006705" y="3613539"/>
            <a:ext cx="1985359" cy="2072723"/>
          </a:xfrm>
          <a:prstGeom prst="rect">
            <a:avLst/>
          </a:prstGeom>
        </p:spPr>
      </p:pic>
      <p:pic>
        <p:nvPicPr>
          <p:cNvPr id="14" name="Picture 13" descr="BUREAU of INDIAN STANDARDS (BIS) -12 – DESIGN ACADEMICS">
            <a:extLst>
              <a:ext uri="{FF2B5EF4-FFF2-40B4-BE49-F238E27FC236}">
                <a16:creationId xmlns:a16="http://schemas.microsoft.com/office/drawing/2014/main" id="{7A5E295F-5F20-2C4E-BACC-0E8EF688AEFC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51012" r="42881"/>
          <a:stretch>
            <a:fillRect/>
          </a:stretch>
        </p:blipFill>
        <p:spPr>
          <a:xfrm>
            <a:off x="10160000" y="1470573"/>
            <a:ext cx="1682717" cy="132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7792</TotalTime>
  <Words>388</Words>
  <Application>Microsoft Office PowerPoint</Application>
  <PresentationFormat>Widescreen</PresentationFormat>
  <Paragraphs>73</Paragraphs>
  <Slides>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2026</vt:lpstr>
      <vt:lpstr>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Madhav anand</cp:lastModifiedBy>
  <cp:revision>151</cp:revision>
  <dcterms:created xsi:type="dcterms:W3CDTF">2013-12-12T18:46:50Z</dcterms:created>
  <dcterms:modified xsi:type="dcterms:W3CDTF">2026-09-09T18:44:18Z</dcterms:modified>
  <cp:category/>
</cp:coreProperties>
</file>